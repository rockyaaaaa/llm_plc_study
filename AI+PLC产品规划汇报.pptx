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AI+PLC：下一代工业编程操作系统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04040"/>
                </a:solidFill>
              </a:defRPr>
            </a:pPr>
            <a:r>
              <a:t>技术可行性与商业价值分析 | 2025年度战略项目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Slide 1 | AI+PLC：下一条可验证的增长曲线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汇报目的：争取 12 个月、1200 万人民币的专项投入，押注「AI工业编程」作为公司下一条增长曲线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行业信号：2024 以来，Siemens、ABB 等都发表 PLC+LLM 研究（LLM4PLC、Agents4PLC、AutoPLC），表明技术从「概念验证」进入「验证规模化」阶段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我们优势：掌握真实产线数据+行业 know-how，可把一线工程师的重复编码沉淀成可复用的软件资产，形成跨品牌护城河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技术成熟度：学术界已验证可控、可验证、可商用的技术路线，编译通过率达 90%+，推理成本仅 $0.13/任务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Slide 2 | 客户拉力：OEM 与集成商在主动催进度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市场信号：CEChina（2025.04）显示 OEM/系统集成商/分销商把生成式 AI 视作核心工具，Beckhoff TwinCAT Chat 2023 展会被抢着报名验证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一线痛点：模板化标签、批量 POU、文档、调试占 &gt;60% 工时；人才断层导致客户愿意用 AI 加速新人上岗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时间窗口：厂商自研 Copilot（Siemens、Rockwell）锁定自家生态，12–18 个月内跨品牌解决方案仍空白，我们必须抢占心智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竞争态势：Siemens Industrial Copilot 已发布但仅支持 SCL/TIA Portal，缺乏 Ladder/SFC 与跨品牌能力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Slide 3 | 技术验证：三条路线共同证明「可控、可验证、可商用」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LLM4PLC（ICSE-SEIP 2024）：引入用户反馈+语法检查+编译器+SMV 模型检验，配合 LoRA 微调，在 Fischer Technik 产线测试中把生成成功率从 47% 拉到 72%，专家评分 2.25→7.75/10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Agents4PLC（arXiv:2410.14209）：首个多智能体闭环，从需求→规划→编码→编译→形式验证→调试，强调「代码级」验证，可插拔 GPT、CodeLlama 等模型，还发布了从自然语言到 ST 代码的首个基准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AutoPLC（arXiv:2412.02410）：构建「厂商 API 库 + 案例库 + IDE 动态验证」四阶段流水线，在 Siemens TIA Portal/CODESYS 914 个任务上实现 90%+ 编译通过，单任务推理成本 0.13 美元且获得资深工程师认可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结论：技术路径已被国际顶会和头部厂商验证，风险可控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Slide 4 | 机会缺口：差异化聚焦 Ladder/SFC 与跨厂商落地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现状分析：现有方案几乎清一色聚焦 Structured Text；AutoPLC 也强调不同厂商 SCL/ST 差异巨大，客户需要「懂设备方言」的 AI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Siemens Industrial Copilot 局限性：</a:t>
            </a:r>
          </a:p>
          <a:p>
            <a:pPr lvl="1">
              <a:spcAft>
                <a:spcPts val="800"/>
              </a:spcAft>
              <a:defRPr sz="1400" b="1">
                <a:solidFill>
                  <a:srgbClr val="808080"/>
                </a:solidFill>
              </a:defRPr>
            </a:pPr>
            <a:r>
              <a:t>功能：仅支持 SCL 代码生成与 WinCC Unified 可视化，锁定 Simatic 生态</a:t>
            </a:r>
          </a:p>
          <a:p>
            <a:pPr lvl="1">
              <a:spcAft>
                <a:spcPts val="800"/>
              </a:spcAft>
              <a:defRPr sz="1400" b="1">
                <a:solidFill>
                  <a:srgbClr val="808080"/>
                </a:solidFill>
              </a:defRPr>
            </a:pPr>
            <a:r>
              <a:t>依赖：需要 Azure OpenAI 订阅、WinCC Unified 许可，本地安装约 329 MB</a:t>
            </a:r>
          </a:p>
          <a:p>
            <a:pPr lvl="1">
              <a:spcAft>
                <a:spcPts val="800"/>
              </a:spcAft>
              <a:defRPr sz="1400" b="1">
                <a:solidFill>
                  <a:srgbClr val="808080"/>
                </a:solidFill>
              </a:defRPr>
            </a:pPr>
            <a:r>
              <a:t>可用性：目前仅对欧美少量客户开放订阅，中国客户仍需等待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我们的差异化优势：</a:t>
            </a:r>
          </a:p>
          <a:p>
            <a:pPr lvl="1">
              <a:spcAft>
                <a:spcPts val="800"/>
              </a:spcAft>
              <a:defRPr sz="1400" b="1">
                <a:solidFill>
                  <a:srgbClr val="808080"/>
                </a:solidFill>
              </a:defRPr>
            </a:pPr>
            <a:r>
              <a:t>跨品牌支持：Siemens + CODESYS + Rockwell + Beckhoff 全栈覆盖</a:t>
            </a:r>
          </a:p>
          <a:p>
            <a:pPr lvl="1">
              <a:spcAft>
                <a:spcPts val="800"/>
              </a:spcAft>
              <a:defRPr sz="1400" b="1">
                <a:solidFill>
                  <a:srgbClr val="808080"/>
                </a:solidFill>
              </a:defRPr>
            </a:pPr>
            <a:r>
              <a:t>Ladder/SFC 增强：提供文本中间表示、ASCII 渲染与回写，比只生成 SCL 更贴合现场遗留项目</a:t>
            </a:r>
          </a:p>
          <a:p>
            <a:pPr lvl="1">
              <a:spcAft>
                <a:spcPts val="800"/>
              </a:spcAft>
              <a:defRPr sz="1400" b="1">
                <a:solidFill>
                  <a:srgbClr val="808080"/>
                </a:solidFill>
              </a:defRPr>
            </a:pPr>
            <a:r>
              <a:t>私有化部署：可插拔推理源，支持国内算力与完全离线环境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Slide 5 | 产品蓝图：AI 工业编程操作系统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知识底座：行业标准（IEC 61131-3/61499）+ 厂商文档（API/错误码/最佳实践）+ 真实案例库（已验证的产线代码）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双层模型：通用大模型（GPT-4/国产基座）+ 领域微调模型（LoRA on 行业数据集）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Multi-Agent 工作流：需求分析 → 架构规划 → 代码生成 → 语法检查 → 编译验证 → 形式验证（SMV）→ 仿真测试 → 文档生成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RAG + 守护进程：实时检索厂商手册、案例库、调试日志，持续监控生成质量并触发人工审核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与竞品差异化设计：</a:t>
            </a:r>
          </a:p>
          <a:p>
            <a:pPr lvl="1">
              <a:spcAft>
                <a:spcPts val="800"/>
              </a:spcAft>
              <a:defRPr sz="1400">
                <a:solidFill>
                  <a:srgbClr val="808080"/>
                </a:solidFill>
              </a:defRPr>
            </a:pPr>
            <a:r>
              <a:t>借鉴 Siemens Copilot 的「IDE 插件 + 云模型」模式，但支持可插拔推理源与私有化</a:t>
            </a:r>
          </a:p>
          <a:p>
            <a:pPr lvl="1">
              <a:spcAft>
                <a:spcPts val="800"/>
              </a:spcAft>
              <a:defRPr sz="1400" b="1">
                <a:solidFill>
                  <a:srgbClr val="808080"/>
                </a:solidFill>
              </a:defRPr>
            </a:pPr>
            <a:r>
              <a:t>增强 Ladder/SFC：文本中间表示、ASCII 渲染与回写</a:t>
            </a:r>
          </a:p>
          <a:p>
            <a:pPr lvl="1">
              <a:spcAft>
                <a:spcPts val="800"/>
              </a:spcAft>
              <a:defRPr sz="1400" b="1">
                <a:solidFill>
                  <a:srgbClr val="808080"/>
                </a:solidFill>
              </a:defRPr>
            </a:pPr>
            <a:r>
              <a:t>多厂商扩展：真正的「工业多语种 Copilot」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Slide 6 | 商业模式与单位经济假设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客户分层：</a:t>
            </a:r>
          </a:p>
          <a:p>
            <a:pPr lvl="1">
              <a:spcAft>
                <a:spcPts val="800"/>
              </a:spcAft>
              <a:defRPr sz="1400">
                <a:solidFill>
                  <a:srgbClr val="808080"/>
                </a:solidFill>
              </a:defRPr>
            </a:pPr>
            <a:r>
              <a:t>① 大型 OEM/系统集成商（席位+算力包）</a:t>
            </a:r>
          </a:p>
          <a:p>
            <a:pPr lvl="1">
              <a:spcAft>
                <a:spcPts val="800"/>
              </a:spcAft>
              <a:defRPr sz="1400">
                <a:solidFill>
                  <a:srgbClr val="808080"/>
                </a:solidFill>
              </a:defRPr>
            </a:pPr>
            <a:r>
              <a:t>② PLC 厂商（白标/SDK，共建生态）</a:t>
            </a:r>
          </a:p>
          <a:p>
            <a:pPr lvl="1">
              <a:spcAft>
                <a:spcPts val="800"/>
              </a:spcAft>
              <a:defRPr sz="1400">
                <a:solidFill>
                  <a:srgbClr val="808080"/>
                </a:solidFill>
              </a:defRPr>
            </a:pPr>
            <a:r>
              <a:t>③ 终端工厂（项目制+成功费）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收费建议：基础席位 30–50 万元/年 + 生成量计费；AutoPLC 报告 $0.13/任务的推理成本，给我们定价与毛利守护空间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ROI 案例：CEChina 案例显示重复编码时间可砍半，典型 4 人月项目可节省 20–30 万元/线；若叠加私有化与安全白盒审计，可再收一次性部署费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生态协同：与分销商（DigiKey 等）共建应用库，与高校/培训机构共建联合实验室，持续获得长尾设备与数据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Slide 7 | 12 个月执行里程碑（对齐论文验证路径）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Q1：签 3 家灯塔客户，清洗 ≥300 个 ST 项目，搭建基础 RAG+验证流水线，完成封闭环境 PoC（借鉴 LLM4PLC 的语法/SMV 流程）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Q2：上线「需求→ST 代码→IDE 验证」MVP（Siemens+Codesys 双栈），同步完成 Ladder/SFC 文本中间表示与 ASCII 渲染 Demo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Q3：引入 Agents4PLC 式多 Agent 协同（诊断、文档、测试自动生成），交付首批付费项目，启动私有化/合规模块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Q4：发布 2.0（支持 HMI、SFC、知识问答），建立行业基准测试与合作伙伴认证，准备下一轮融资/规模化推广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资源需求：核心团队 12 人（控制算法 4、LLM 4、后端 2、产品/交付 2），年度研发+算力预算约 1200 万人民币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Slide 8 | 主要风险与应对（结合论文经验）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幻觉与质量：全链路必须包含编译/仿真/SMV/单测，关键逻辑强制人工签核；沿用 LLM4PLC、Agents4PLC 的多级验证策略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数据安全：提供本地部署、脱敏管道、权限审计；AutoPLC 的厂商协作案例说明 OEM 接受「私有模型+本地 IDE」模式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合规与可解释性：跟进 EU AI Act、国内等保，保留模型决策日志与调试记录，支撑审计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竞争：厂商 Copilot 绑定单品牌；我们主打「跨品牌 + Ladder/SFC + 私有化」，并与器件分销商、高校共建生态提高进入壁垒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人才：联合高校/行业协会建立实验室，提前培育「控制+LLM」复合型工程师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Slide 9 | 管理层需拍板事项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决策请求：</a:t>
            </a:r>
          </a:p>
          <a:p>
            <a:pPr lvl="1">
              <a:spcAft>
                <a:spcPts val="800"/>
              </a:spcAft>
              <a:defRPr sz="1400">
                <a:solidFill>
                  <a:srgbClr val="808080"/>
                </a:solidFill>
              </a:defRPr>
            </a:pPr>
            <a:r>
              <a:t>① 是否批准 1200 万人民币预算与 12 人编制</a:t>
            </a:r>
          </a:p>
          <a:p>
            <a:pPr lvl="1">
              <a:spcAft>
                <a:spcPts val="800"/>
              </a:spcAft>
              <a:defRPr sz="1400">
                <a:solidFill>
                  <a:srgbClr val="808080"/>
                </a:solidFill>
              </a:defRPr>
            </a:pPr>
            <a:r>
              <a:t>② 是否确认 3 家灯塔客户名单与数据采集协议</a:t>
            </a:r>
          </a:p>
          <a:p>
            <a:pPr lvl="1">
              <a:spcAft>
                <a:spcPts val="800"/>
              </a:spcAft>
              <a:defRPr sz="1400">
                <a:solidFill>
                  <a:srgbClr val="808080"/>
                </a:solidFill>
              </a:defRPr>
            </a:pPr>
            <a:r>
              <a:t>③ 是否授权启动 Q1 PoC 与 Ladder/SFC 中间表示研发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下一步：若获批，即刻按照 Q1 计划启动数据治理、PoC 与技术验证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信息来源：</a:t>
            </a:r>
          </a:p>
          <a:p>
            <a:pPr lvl="1">
              <a:spcAft>
                <a:spcPts val="800"/>
              </a:spcAft>
              <a:defRPr sz="1400">
                <a:solidFill>
                  <a:srgbClr val="808080"/>
                </a:solidFill>
              </a:defRPr>
            </a:pPr>
            <a:r>
              <a:t>LLM4PLC（ICSE-SEIP 2024）</a:t>
            </a:r>
          </a:p>
          <a:p>
            <a:pPr lvl="1">
              <a:spcAft>
                <a:spcPts val="800"/>
              </a:spcAft>
              <a:defRPr sz="1400">
                <a:solidFill>
                  <a:srgbClr val="808080"/>
                </a:solidFill>
              </a:defRPr>
            </a:pPr>
            <a:r>
              <a:t>Agents4PLC（arXiv:2410.14209）</a:t>
            </a:r>
          </a:p>
          <a:p>
            <a:pPr lvl="1">
              <a:spcAft>
                <a:spcPts val="800"/>
              </a:spcAft>
              <a:defRPr sz="1400">
                <a:solidFill>
                  <a:srgbClr val="808080"/>
                </a:solidFill>
              </a:defRPr>
            </a:pPr>
            <a:r>
              <a:t>AutoPLC（arXiv:2412.02410）</a:t>
            </a:r>
          </a:p>
          <a:p>
            <a:pPr lvl="1">
              <a:spcAft>
                <a:spcPts val="800"/>
              </a:spcAft>
              <a:defRPr sz="1400">
                <a:solidFill>
                  <a:srgbClr val="808080"/>
                </a:solidFill>
              </a:defRPr>
            </a:pPr>
            <a:r>
              <a:t>IEC 图形语言探索（arXiv:2410.15200）</a:t>
            </a:r>
          </a:p>
          <a:p>
            <a:pPr lvl="1">
              <a:spcAft>
                <a:spcPts val="800"/>
              </a:spcAft>
              <a:defRPr sz="1400">
                <a:solidFill>
                  <a:srgbClr val="808080"/>
                </a:solidFill>
              </a:defRPr>
            </a:pPr>
            <a:r>
              <a:t>CEChina 2025、Beckhoff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附录 | Ladder/SFC 技术路线（基于论文实验）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实验发现：GPT-4 在提供少量示例后可生成可读 SFC，但 Ladder 受 ASCII 布局/连线约束影响大，必须拆解成中间表示再渲染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可执行路径：</a:t>
            </a:r>
          </a:p>
          <a:p>
            <a:pPr lvl="1">
              <a:spcAft>
                <a:spcPts val="800"/>
              </a:spcAft>
              <a:defRPr sz="1400">
                <a:solidFill>
                  <a:srgbClr val="808080"/>
                </a:solidFill>
              </a:defRPr>
            </a:pPr>
            <a:r>
              <a:t>① 建立 JSON/文本中间表示 → 生成后再渲染成 Ladder 图</a:t>
            </a:r>
          </a:p>
          <a:p>
            <a:pPr lvl="1">
              <a:spcAft>
                <a:spcPts val="800"/>
              </a:spcAft>
              <a:defRPr sz="1400">
                <a:solidFill>
                  <a:srgbClr val="808080"/>
                </a:solidFill>
              </a:defRPr>
            </a:pPr>
            <a:r>
              <a:t>② 对常见梯级（互锁、延时、安全链）做库化，AI 只拼装已验证模块</a:t>
            </a:r>
          </a:p>
          <a:p>
            <a:pPr lvl="1">
              <a:spcAft>
                <a:spcPts val="800"/>
              </a:spcAft>
              <a:defRPr sz="1400">
                <a:solidFill>
                  <a:srgbClr val="808080"/>
                </a:solidFill>
              </a:defRPr>
            </a:pPr>
            <a:r>
              <a:t>③ 用 RAG+图语法限制触点/线圈幻觉</a:t>
            </a:r>
          </a:p>
          <a:p>
            <a:pPr lvl="1">
              <a:spcAft>
                <a:spcPts val="800"/>
              </a:spcAft>
              <a:defRPr sz="1400">
                <a:solidFill>
                  <a:srgbClr val="808080"/>
                </a:solidFill>
              </a:defRPr>
            </a:pPr>
            <a:r>
              <a:t>④ 结合 Siemens PLCSIM/CODESYS 仿真闭环验证，人工终审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04040"/>
                </a:solidFill>
              </a:defRPr>
            </a:pPr>
            <a:r>
              <a:t>技术门槛：需要深度理解 IEC 61131-3 标准与各厂商的 Ladder 方言差异，但已有明确的工程化路径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